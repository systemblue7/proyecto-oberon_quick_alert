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3716000" cy="2438388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GURIDAD BLANCO.jpg"/>
          <p:cNvPicPr>
            <a:picLocks noChangeAspect="1"/>
          </p:cNvPicPr>
          <p:nvPr/>
        </p:nvPicPr>
        <p:blipFill>
          <a:blip r:embed="rId2"/>
          <a:stretch>
            <a:fillRect/>
          </a:stretch>
        </p:blipFill>
        <p:spPr>
          <a:xfrm>
            <a:off x="0" y="0"/>
            <a:ext cx="13716000" cy="6350400"/>
          </a:xfrm>
          <a:prstGeom prst="rect">
            <a:avLst/>
          </a:prstGeom>
        </p:spPr>
      </p:pic>
      <p:sp>
        <p:nvSpPr>
          <p:cNvPr id="3" name="TextBox 2"/>
          <p:cNvSpPr txBox="1"/>
          <p:nvPr/>
        </p:nvSpPr>
        <p:spPr>
          <a:xfrm>
            <a:off x="720000" y="6710400"/>
            <a:ext cx="12240000" cy="561600"/>
          </a:xfrm>
          <a:prstGeom prst="rect">
            <a:avLst/>
          </a:prstGeom>
          <a:noFill/>
        </p:spPr>
        <p:txBody>
          <a:bodyPr wrap="square" tIns="0" bIns="0" lIns="0" rIns="0">
            <a:spAutoFit/>
          </a:bodyPr>
          <a:lstStyle/>
          <a:p>
            <a:pPr>
              <a:lnSpc>
                <a:spcPct val="100000"/>
              </a:lnSpc>
              <a:spcBef>
                <a:spcPts val="0"/>
              </a:spcBef>
              <a:spcAft>
                <a:spcPts val="0"/>
              </a:spcAft>
            </a:pPr>
            <a:r>
              <a:rPr sz="2500" b="0">
                <a:latin typeface="Century Gothic"/>
              </a:rPr>
              <a:t>Risaralda, Pereira, 20 de noviembre del 2025</a:t>
            </a:r>
          </a:p>
        </p:txBody>
      </p:sp>
      <p:pic>
        <p:nvPicPr>
          <p:cNvPr id="4" name="Picture 3" descr="TAXI.png"/>
          <p:cNvPicPr>
            <a:picLocks noChangeAspect="1"/>
          </p:cNvPicPr>
          <p:nvPr/>
        </p:nvPicPr>
        <p:blipFill>
          <a:blip r:embed="rId3"/>
          <a:stretch>
            <a:fillRect/>
          </a:stretch>
        </p:blipFill>
        <p:spPr>
          <a:xfrm>
            <a:off x="9900000" y="6710400"/>
            <a:ext cx="540000" cy="540000"/>
          </a:xfrm>
          <a:prstGeom prst="rect">
            <a:avLst/>
          </a:prstGeom>
        </p:spPr>
      </p:pic>
      <p:sp>
        <p:nvSpPr>
          <p:cNvPr id="5" name="TextBox 4"/>
          <p:cNvSpPr txBox="1"/>
          <p:nvPr/>
        </p:nvSpPr>
        <p:spPr>
          <a:xfrm>
            <a:off x="10440000" y="6710400"/>
            <a:ext cx="2844000" cy="561600"/>
          </a:xfrm>
          <a:prstGeom prst="rect">
            <a:avLst/>
          </a:prstGeom>
          <a:noFill/>
        </p:spPr>
        <p:txBody>
          <a:bodyPr wrap="square" tIns="0" bIns="0" lIns="0" rIns="0">
            <a:spAutoFit/>
          </a:bodyPr>
          <a:lstStyle/>
          <a:p>
            <a:pPr>
              <a:lnSpc>
                <a:spcPct val="100000"/>
              </a:lnSpc>
              <a:spcBef>
                <a:spcPts val="0"/>
              </a:spcBef>
              <a:spcAft>
                <a:spcPts val="0"/>
              </a:spcAft>
            </a:pPr>
            <a:r>
              <a:rPr sz="3000" b="0">
                <a:latin typeface="Century Gothic"/>
              </a:rPr>
              <a:t>Boletín No. 120</a:t>
            </a:r>
          </a:p>
        </p:txBody>
      </p:sp>
      <p:pic>
        <p:nvPicPr>
          <p:cNvPr id="6" name="Picture 5" descr="TAXI.png"/>
          <p:cNvPicPr>
            <a:picLocks noChangeAspect="1"/>
          </p:cNvPicPr>
          <p:nvPr/>
        </p:nvPicPr>
        <p:blipFill>
          <a:blip r:embed="rId3"/>
          <a:stretch>
            <a:fillRect/>
          </a:stretch>
        </p:blipFill>
        <p:spPr>
          <a:xfrm>
            <a:off x="720000" y="7430400"/>
            <a:ext cx="468000" cy="468000"/>
          </a:xfrm>
          <a:prstGeom prst="rect">
            <a:avLst/>
          </a:prstGeom>
        </p:spPr>
      </p:pic>
      <p:sp>
        <p:nvSpPr>
          <p:cNvPr id="7" name="TextBox 6"/>
          <p:cNvSpPr txBox="1"/>
          <p:nvPr/>
        </p:nvSpPr>
        <p:spPr>
          <a:xfrm>
            <a:off x="1260000" y="7430400"/>
            <a:ext cx="7218000" cy="561600"/>
          </a:xfrm>
          <a:prstGeom prst="rect">
            <a:avLst/>
          </a:prstGeom>
          <a:noFill/>
        </p:spPr>
        <p:txBody>
          <a:bodyPr wrap="square" tIns="0" bIns="0" lIns="0" rIns="0">
            <a:spAutoFit/>
          </a:bodyPr>
          <a:lstStyle/>
          <a:p>
            <a:pPr>
              <a:lnSpc>
                <a:spcPct val="100000"/>
              </a:lnSpc>
              <a:spcBef>
                <a:spcPts val="0"/>
              </a:spcBef>
              <a:spcAft>
                <a:spcPts val="0"/>
              </a:spcAft>
            </a:pPr>
            <a:r>
              <a:rPr sz="3000" b="1">
                <a:latin typeface="Century Gothic"/>
              </a:rPr>
              <a:t>CALLE 45</a:t>
            </a:r>
          </a:p>
        </p:txBody>
      </p:sp>
      <p:pic>
        <p:nvPicPr>
          <p:cNvPr id="8" name="Picture 7" descr="TAXI.png"/>
          <p:cNvPicPr>
            <a:picLocks noChangeAspect="1"/>
          </p:cNvPicPr>
          <p:nvPr/>
        </p:nvPicPr>
        <p:blipFill>
          <a:blip r:embed="rId3"/>
          <a:stretch>
            <a:fillRect/>
          </a:stretch>
        </p:blipFill>
        <p:spPr>
          <a:xfrm>
            <a:off x="720000" y="8150400"/>
            <a:ext cx="468000" cy="468000"/>
          </a:xfrm>
          <a:prstGeom prst="rect">
            <a:avLst/>
          </a:prstGeom>
        </p:spPr>
      </p:pic>
      <p:sp>
        <p:nvSpPr>
          <p:cNvPr id="9" name="TextBox 8"/>
          <p:cNvSpPr txBox="1"/>
          <p:nvPr/>
        </p:nvSpPr>
        <p:spPr>
          <a:xfrm>
            <a:off x="1260000" y="8150400"/>
            <a:ext cx="12362400" cy="493200"/>
          </a:xfrm>
          <a:prstGeom prst="rect">
            <a:avLst/>
          </a:prstGeom>
          <a:noFill/>
        </p:spPr>
        <p:txBody>
          <a:bodyPr wrap="square" tIns="0" bIns="0" lIns="0" rIns="0">
            <a:spAutoFit/>
          </a:bodyPr>
          <a:lstStyle/>
          <a:p>
            <a:pPr>
              <a:lnSpc>
                <a:spcPct val="100000"/>
              </a:lnSpc>
              <a:spcBef>
                <a:spcPts val="0"/>
              </a:spcBef>
              <a:spcAft>
                <a:spcPts val="0"/>
              </a:spcAft>
            </a:pPr>
            <a:r>
              <a:rPr sz="2300" b="0">
                <a:latin typeface="Century Gothic"/>
              </a:rPr>
              <a:t>BLOQUEO POR PLANTÓN DURANTE AUDIENCIA JUDICIAL DEL EXPRESIDENTE</a:t>
            </a:r>
          </a:p>
        </p:txBody>
      </p:sp>
      <p:sp>
        <p:nvSpPr>
          <p:cNvPr id="10" name="TextBox 9"/>
          <p:cNvSpPr txBox="1"/>
          <p:nvPr/>
        </p:nvSpPr>
        <p:spPr>
          <a:xfrm>
            <a:off x="720000" y="8870400"/>
            <a:ext cx="12441600" cy="2545200"/>
          </a:xfrm>
          <a:prstGeom prst="rect">
            <a:avLst/>
          </a:prstGeom>
          <a:noFill/>
        </p:spPr>
        <p:txBody>
          <a:bodyPr wrap="square" tIns="0" bIns="0" lIns="0" rIns="0">
            <a:spAutoFit/>
          </a:bodyPr>
          <a:lstStyle/>
          <a:p>
            <a:pPr>
              <a:lnSpc>
                <a:spcPct val="100000"/>
              </a:lnSpc>
              <a:spcBef>
                <a:spcPts val="0"/>
              </a:spcBef>
              <a:spcAft>
                <a:spcPts val="0"/>
              </a:spcAft>
            </a:pPr>
            <a:r>
              <a:rPr sz="2300" b="1">
                <a:latin typeface="Century Gothic"/>
              </a:rPr>
              <a:t>Este 19 de octubre de 2025, en la tarde de este lunes se registra un bloqueo en la Carrera 7 con Calle 45, en sentido occidente-oriente, generado por un plantón convocado por el colectivo “Puro Veneno” con motivo de la audiencia judicial del expresidente Álvaro Uribe Vélez. Este 28 de julio de 2025, en la tarde de este </a:t>
            </a:r>
            <a:r>
              <a:rPr sz="2300" b="0">
                <a:latin typeface="Century Gothic"/>
              </a:rPr>
              <a:t>lunes se registra un bloqueo en la Carrera 7 con Calle 45, en sentido occidente-oriente, generado por un plantón convocado por el colectivo “Puro Veneno” con motivo de la audiencia judicial del expresidente Álvaro Uribe Vélez.</a:t>
            </a:r>
          </a:p>
        </p:txBody>
      </p:sp>
      <p:pic>
        <p:nvPicPr>
          <p:cNvPr id="11" name="Picture 10" descr="Imagen2.png"/>
          <p:cNvPicPr>
            <a:picLocks noChangeAspect="1"/>
          </p:cNvPicPr>
          <p:nvPr/>
        </p:nvPicPr>
        <p:blipFill>
          <a:blip r:embed="rId4"/>
          <a:stretch>
            <a:fillRect/>
          </a:stretch>
        </p:blipFill>
        <p:spPr>
          <a:xfrm>
            <a:off x="720000" y="11750400"/>
            <a:ext cx="5886000" cy="3311999"/>
          </a:xfrm>
          <a:prstGeom prst="rect">
            <a:avLst/>
          </a:prstGeom>
        </p:spPr>
      </p:pic>
      <p:sp>
        <p:nvSpPr>
          <p:cNvPr id="12" name="TextBox 11"/>
          <p:cNvSpPr txBox="1"/>
          <p:nvPr/>
        </p:nvSpPr>
        <p:spPr>
          <a:xfrm>
            <a:off x="7200000" y="11750400"/>
            <a:ext cx="6055200" cy="2545200"/>
          </a:xfrm>
          <a:prstGeom prst="rect">
            <a:avLst/>
          </a:prstGeom>
          <a:noFill/>
        </p:spPr>
        <p:txBody>
          <a:bodyPr wrap="square" tIns="0" bIns="0" lIns="0" rIns="0">
            <a:spAutoFit/>
          </a:bodyPr>
          <a:lstStyle/>
          <a:p>
            <a:pPr>
              <a:lnSpc>
                <a:spcPct val="100000"/>
              </a:lnSpc>
              <a:spcBef>
                <a:spcPts val="0"/>
              </a:spcBef>
              <a:spcAft>
                <a:spcPts val="0"/>
              </a:spcAft>
            </a:pPr>
            <a:r>
              <a:rPr sz="2300" b="0">
                <a:latin typeface="Century Gothic"/>
              </a:rPr>
              <a:t>La manifestación ha generado afectación de la calzada mixta, obligando a las autoridades a cerrar la Calle 45 entre Carreras 13 y 7. Unidades de tránsito y policía hacen presencia en la zona para controlar la situación y garantizar la seguridad vial.</a:t>
            </a:r>
          </a:p>
        </p:txBody>
      </p:sp>
      <p:sp>
        <p:nvSpPr>
          <p:cNvPr id="13" name="TextBox 12"/>
          <p:cNvSpPr txBox="1"/>
          <p:nvPr/>
        </p:nvSpPr>
        <p:spPr>
          <a:xfrm>
            <a:off x="648000" y="15012000"/>
            <a:ext cx="1800000" cy="284400"/>
          </a:xfrm>
          <a:prstGeom prst="rect">
            <a:avLst/>
          </a:prstGeom>
          <a:noFill/>
        </p:spPr>
        <p:txBody>
          <a:bodyPr wrap="square" tIns="0" bIns="0" lIns="0" rIns="0">
            <a:spAutoFit/>
          </a:bodyPr>
          <a:lstStyle/>
          <a:p>
            <a:pPr>
              <a:lnSpc>
                <a:spcPct val="100000"/>
              </a:lnSpc>
              <a:spcBef>
                <a:spcPts val="0"/>
              </a:spcBef>
              <a:spcAft>
                <a:spcPts val="0"/>
              </a:spcAft>
            </a:pPr>
            <a:r>
              <a:rPr sz="1500" b="0">
                <a:latin typeface="Century Gothic"/>
              </a:rPr>
              <a:t>Fuente: W Radio</a:t>
            </a:r>
          </a:p>
        </p:txBody>
      </p:sp>
      <p:sp>
        <p:nvSpPr>
          <p:cNvPr id="14" name="TextBox 13"/>
          <p:cNvSpPr txBox="1"/>
          <p:nvPr/>
        </p:nvSpPr>
        <p:spPr>
          <a:xfrm>
            <a:off x="648000" y="15372000"/>
            <a:ext cx="1800000" cy="284400"/>
          </a:xfrm>
          <a:prstGeom prst="rect">
            <a:avLst/>
          </a:prstGeom>
          <a:noFill/>
        </p:spPr>
        <p:txBody>
          <a:bodyPr wrap="square" tIns="0" bIns="0" lIns="0" rIns="0">
            <a:spAutoFit/>
          </a:bodyPr>
          <a:lstStyle/>
          <a:p>
            <a:pPr>
              <a:lnSpc>
                <a:spcPct val="100000"/>
              </a:lnSpc>
              <a:spcBef>
                <a:spcPts val="0"/>
              </a:spcBef>
              <a:spcAft>
                <a:spcPts val="0"/>
              </a:spcAft>
            </a:pPr>
            <a:r>
              <a:rPr sz="2300" b="1">
                <a:latin typeface="Century Gothic"/>
              </a:rPr>
              <a:t>IMPACTO:</a:t>
            </a:r>
          </a:p>
        </p:txBody>
      </p:sp>
      <p:sp>
        <p:nvSpPr>
          <p:cNvPr id="15" name="TextBox 14"/>
          <p:cNvSpPr txBox="1"/>
          <p:nvPr/>
        </p:nvSpPr>
        <p:spPr>
          <a:xfrm>
            <a:off x="2160000" y="15372000"/>
            <a:ext cx="3600000" cy="284400"/>
          </a:xfrm>
          <a:prstGeom prst="rect">
            <a:avLst/>
          </a:prstGeom>
          <a:noFill/>
        </p:spPr>
        <p:txBody>
          <a:bodyPr wrap="square" tIns="0" bIns="0" lIns="0" rIns="0">
            <a:spAutoFit/>
          </a:bodyPr>
          <a:lstStyle/>
          <a:p>
            <a:pPr>
              <a:lnSpc>
                <a:spcPct val="100000"/>
              </a:lnSpc>
              <a:spcBef>
                <a:spcPts val="0"/>
              </a:spcBef>
              <a:spcAft>
                <a:spcPts val="0"/>
              </a:spcAft>
            </a:pPr>
            <a:r>
              <a:rPr sz="2300" b="0">
                <a:latin typeface="Century Gothic"/>
              </a:rPr>
              <a:t>Impacto del evento en la movilidad y la seguridad vial.</a:t>
            </a:r>
          </a:p>
        </p:txBody>
      </p:sp>
      <p:pic>
        <p:nvPicPr>
          <p:cNvPr id="16" name="Picture 15" descr="TODO-BIEN-.png"/>
          <p:cNvPicPr>
            <a:picLocks noChangeAspect="1"/>
          </p:cNvPicPr>
          <p:nvPr/>
        </p:nvPicPr>
        <p:blipFill>
          <a:blip r:embed="rId5"/>
          <a:stretch>
            <a:fillRect/>
          </a:stretch>
        </p:blipFill>
        <p:spPr>
          <a:xfrm>
            <a:off x="720000" y="15840000"/>
            <a:ext cx="540000" cy="540000"/>
          </a:xfrm>
          <a:prstGeom prst="rect">
            <a:avLst/>
          </a:prstGeom>
        </p:spPr>
      </p:pic>
      <p:sp>
        <p:nvSpPr>
          <p:cNvPr id="17" name="TextBox 16"/>
          <p:cNvSpPr txBox="1"/>
          <p:nvPr/>
        </p:nvSpPr>
        <p:spPr>
          <a:xfrm>
            <a:off x="1332000" y="15840000"/>
            <a:ext cx="5623200" cy="561600"/>
          </a:xfrm>
          <a:prstGeom prst="rect">
            <a:avLst/>
          </a:prstGeom>
          <a:noFill/>
        </p:spPr>
        <p:txBody>
          <a:bodyPr wrap="square" tIns="0" bIns="0" lIns="0" rIns="0">
            <a:spAutoFit/>
          </a:bodyPr>
          <a:lstStyle/>
          <a:p>
            <a:pPr>
              <a:lnSpc>
                <a:spcPct val="100000"/>
              </a:lnSpc>
              <a:spcBef>
                <a:spcPts val="0"/>
              </a:spcBef>
              <a:spcAft>
                <a:spcPts val="0"/>
              </a:spcAft>
            </a:pPr>
            <a:r>
              <a:rPr sz="2700" b="0">
                <a:latin typeface="Century Gothic"/>
              </a:rPr>
              <a:t>RECOMENDACIONES</a:t>
            </a:r>
          </a:p>
        </p:txBody>
      </p:sp>
      <p:sp>
        <p:nvSpPr>
          <p:cNvPr id="18" name="TextBox 17"/>
          <p:cNvSpPr txBox="1"/>
          <p:nvPr/>
        </p:nvSpPr>
        <p:spPr>
          <a:xfrm>
            <a:off x="720000" y="16380000"/>
            <a:ext cx="12441600" cy="5400000"/>
          </a:xfrm>
          <a:prstGeom prst="rect">
            <a:avLst/>
          </a:prstGeom>
          <a:noFill/>
        </p:spPr>
        <p:txBody>
          <a:bodyPr wrap="square" tIns="0" bIns="0" lIns="0" rIns="0">
            <a:spAutoFit/>
          </a:bodyPr>
          <a:lstStyle/>
          <a:p>
            <a:pPr>
              <a:lnSpc>
                <a:spcPct val="100000"/>
              </a:lnSpc>
              <a:spcBef>
                <a:spcPts val="0"/>
              </a:spcBef>
              <a:spcAft>
                <a:spcPts val="0"/>
              </a:spcAft>
            </a:pPr>
            <a:r>
              <a:rPr sz="2300" b="0">
                <a:latin typeface="Century Gothic"/>
              </a:rPr>
              <a:t>✅Ante los bloqueos reportados en diferentes puntos de la ciudad, como la Carrera 7 con Calle 45 y la Av. Guayacanes con Calle 38 Sur, las autoridades emiten las siguientes recomendaciones:
✅Evite transitar por zonas de manifestación: si puede, reprograme sus desplazamientos o utilice rutas alternas como la Avenida Caracas, Carrera 30 (NQS) o Avenida Circunvalar.
✅Proteja a menores y adultos mayores: si se moviliza con personas vulnerables, evite transitar cerca de aglomeraciones por seguridad.
✅Use transporte alternativo: de ser posible, opte por el uso de bicicleta, caminar si la distancia lo permite, o planifique rutas con aplicaciones de movilidad en tiempo real.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