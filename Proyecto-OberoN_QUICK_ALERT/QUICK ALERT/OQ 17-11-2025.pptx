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3716000" cy="243838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GURIDAD BLANCO.jpg"/>
          <p:cNvPicPr>
            <a:picLocks noChangeAspect="1"/>
          </p:cNvPicPr>
          <p:nvPr/>
        </p:nvPicPr>
        <p:blipFill>
          <a:blip r:embed="rId2"/>
          <a:stretch>
            <a:fillRect/>
          </a:stretch>
        </p:blipFill>
        <p:spPr>
          <a:xfrm>
            <a:off x="0" y="0"/>
            <a:ext cx="13716000" cy="6350400"/>
          </a:xfrm>
          <a:prstGeom prst="rect">
            <a:avLst/>
          </a:prstGeom>
        </p:spPr>
      </p:pic>
      <p:sp>
        <p:nvSpPr>
          <p:cNvPr id="3" name="TextBox 2"/>
          <p:cNvSpPr txBox="1"/>
          <p:nvPr/>
        </p:nvSpPr>
        <p:spPr>
          <a:xfrm>
            <a:off x="720000" y="6710400"/>
            <a:ext cx="12240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Bogotá, 17 de noviembre del 2025</a:t>
            </a:r>
          </a:p>
        </p:txBody>
      </p:sp>
      <p:sp>
        <p:nvSpPr>
          <p:cNvPr id="4" name="TextBox 3"/>
          <p:cNvSpPr txBox="1"/>
          <p:nvPr/>
        </p:nvSpPr>
        <p:spPr>
          <a:xfrm>
            <a:off x="10440000" y="6710400"/>
            <a:ext cx="2844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Boletín No. 4</a:t>
            </a:r>
          </a:p>
        </p:txBody>
      </p:sp>
      <p:sp>
        <p:nvSpPr>
          <p:cNvPr id="5" name="TextBox 4"/>
          <p:cNvSpPr txBox="1"/>
          <p:nvPr/>
        </p:nvSpPr>
        <p:spPr>
          <a:xfrm>
            <a:off x="1260000" y="7430400"/>
            <a:ext cx="7218000" cy="561600"/>
          </a:xfrm>
          <a:prstGeom prst="rect">
            <a:avLst/>
          </a:prstGeom>
          <a:noFill/>
        </p:spPr>
        <p:txBody>
          <a:bodyPr wrap="square" tIns="0" bIns="0" lIns="0" rIns="0">
            <a:spAutoFit/>
          </a:bodyPr>
          <a:lstStyle/>
          <a:p>
            <a:pPr>
              <a:lnSpc>
                <a:spcPct val="100000"/>
              </a:lnSpc>
              <a:spcBef>
                <a:spcPts val="0"/>
              </a:spcBef>
              <a:spcAft>
                <a:spcPts val="0"/>
              </a:spcAft>
            </a:pPr>
            <a:r>
              <a:rPr sz="3000" b="1">
                <a:latin typeface="Century Gothic"/>
              </a:rPr>
              <a:t>CALLE 45</a:t>
            </a:r>
          </a:p>
        </p:txBody>
      </p:sp>
      <p:sp>
        <p:nvSpPr>
          <p:cNvPr id="6" name="TextBox 5"/>
          <p:cNvSpPr txBox="1"/>
          <p:nvPr/>
        </p:nvSpPr>
        <p:spPr>
          <a:xfrm>
            <a:off x="1260000" y="8150400"/>
            <a:ext cx="12362400" cy="493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BLOQUEO POR PLANTÓN DURANTE AUDIENCIA JUDICIAL DEL EXPRESIDENTE</a:t>
            </a:r>
          </a:p>
        </p:txBody>
      </p:sp>
      <p:sp>
        <p:nvSpPr>
          <p:cNvPr id="7" name="TextBox 6"/>
          <p:cNvSpPr txBox="1"/>
          <p:nvPr/>
        </p:nvSpPr>
        <p:spPr>
          <a:xfrm>
            <a:off x="720000" y="8870400"/>
            <a:ext cx="124416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Este 19 de octubre de 2025, en la tarde de este lunes se registra un bloqueo en la Carrera 7 con Calle 45, en sentido occidente-oriente, generado por un plantón convocado por el colectivo “Puro Veneno” con motivo de la audiencia judicial del expresidente Álvaro Uribe Vélez. Este 28 de julio de 2025, en la tarde de este lunes se registra un bloqueo en la Carrera 7 con Calle 45, en sentido occidente-oriente, generado por un plantón convocado por el colectivo “Puro Veneno” con motivo de la audiencia judicial del expresidente Álvaro Uribe Vélez.</a:t>
            </a:r>
          </a:p>
        </p:txBody>
      </p:sp>
      <p:pic>
        <p:nvPicPr>
          <p:cNvPr id="8" name="Picture 7" descr="imagen_1.png"/>
          <p:cNvPicPr>
            <a:picLocks noChangeAspect="1"/>
          </p:cNvPicPr>
          <p:nvPr/>
        </p:nvPicPr>
        <p:blipFill>
          <a:blip r:embed="rId3"/>
          <a:stretch>
            <a:fillRect/>
          </a:stretch>
        </p:blipFill>
        <p:spPr>
          <a:xfrm>
            <a:off x="720000" y="11750400"/>
            <a:ext cx="5886000" cy="3311999"/>
          </a:xfrm>
          <a:prstGeom prst="rect">
            <a:avLst/>
          </a:prstGeom>
        </p:spPr>
      </p:pic>
      <p:sp>
        <p:nvSpPr>
          <p:cNvPr id="9" name="TextBox 8"/>
          <p:cNvSpPr txBox="1"/>
          <p:nvPr/>
        </p:nvSpPr>
        <p:spPr>
          <a:xfrm>
            <a:off x="7200000" y="11750400"/>
            <a:ext cx="60552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La manifestación ha generado afectación de la calzada mixta, obligando a las autoridades a cerrar la Calle 45 entre Carreras 13 y 7. Unidades de tránsito y policía hacen presencia en la zona para controlar la situación y garantizar la seguridad vial.</a:t>
            </a:r>
          </a:p>
        </p:txBody>
      </p:sp>
      <p:sp>
        <p:nvSpPr>
          <p:cNvPr id="10" name="TextBox 9"/>
          <p:cNvSpPr txBox="1"/>
          <p:nvPr/>
        </p:nvSpPr>
        <p:spPr>
          <a:xfrm>
            <a:off x="648000" y="15012000"/>
            <a:ext cx="1800000" cy="284400"/>
          </a:xfrm>
          <a:prstGeom prst="rect">
            <a:avLst/>
          </a:prstGeom>
          <a:noFill/>
        </p:spPr>
        <p:txBody>
          <a:bodyPr wrap="square" tIns="0" bIns="0" lIns="0" rIns="0">
            <a:spAutoFit/>
          </a:bodyPr>
          <a:lstStyle/>
          <a:p>
            <a:pPr>
              <a:lnSpc>
                <a:spcPct val="100000"/>
              </a:lnSpc>
              <a:spcBef>
                <a:spcPts val="0"/>
              </a:spcBef>
              <a:spcAft>
                <a:spcPts val="0"/>
              </a:spcAft>
            </a:pPr>
            <a:r>
              <a:rPr sz="1500" b="0">
                <a:latin typeface="Century Gothic"/>
              </a:rPr>
              <a:t>Fuente: W Radio</a:t>
            </a:r>
          </a:p>
        </p:txBody>
      </p:sp>
      <p:sp>
        <p:nvSpPr>
          <p:cNvPr id="11" name="TextBox 10"/>
          <p:cNvSpPr txBox="1"/>
          <p:nvPr/>
        </p:nvSpPr>
        <p:spPr>
          <a:xfrm>
            <a:off x="648000" y="15372000"/>
            <a:ext cx="1800000" cy="284400"/>
          </a:xfrm>
          <a:prstGeom prst="rect">
            <a:avLst/>
          </a:prstGeom>
          <a:noFill/>
        </p:spPr>
        <p:txBody>
          <a:bodyPr wrap="square" tIns="0" bIns="0" lIns="0" rIns="0">
            <a:spAutoFit/>
          </a:bodyPr>
          <a:lstStyle/>
          <a:p>
            <a:pPr>
              <a:lnSpc>
                <a:spcPct val="100000"/>
              </a:lnSpc>
              <a:spcBef>
                <a:spcPts val="0"/>
              </a:spcBef>
              <a:spcAft>
                <a:spcPts val="0"/>
              </a:spcAft>
            </a:pPr>
            <a:r>
              <a:rPr sz="1700" b="1">
                <a:latin typeface="Century Gothic"/>
              </a:rPr>
              <a:t>IMPACTO:</a:t>
            </a:r>
          </a:p>
        </p:txBody>
      </p:sp>
      <p:sp>
        <p:nvSpPr>
          <p:cNvPr id="12" name="TextBox 11"/>
          <p:cNvSpPr txBox="1"/>
          <p:nvPr/>
        </p:nvSpPr>
        <p:spPr>
          <a:xfrm>
            <a:off x="1800000" y="15372000"/>
            <a:ext cx="3600000" cy="284400"/>
          </a:xfrm>
          <a:prstGeom prst="rect">
            <a:avLst/>
          </a:prstGeom>
          <a:noFill/>
        </p:spPr>
        <p:txBody>
          <a:bodyPr wrap="square" tIns="0" bIns="0" lIns="0" rIns="0">
            <a:spAutoFit/>
          </a:bodyPr>
          <a:lstStyle/>
          <a:p>
            <a:pPr>
              <a:lnSpc>
                <a:spcPct val="100000"/>
              </a:lnSpc>
              <a:spcBef>
                <a:spcPts val="0"/>
              </a:spcBef>
              <a:spcAft>
                <a:spcPts val="0"/>
              </a:spcAft>
            </a:pPr>
            <a:r>
              <a:rPr sz="1700" b="0">
                <a:latin typeface="Century Gothic"/>
              </a:rPr>
              <a:t>PARO</a:t>
            </a:r>
          </a:p>
        </p:txBody>
      </p:sp>
      <p:sp>
        <p:nvSpPr>
          <p:cNvPr id="13" name="TextBox 12"/>
          <p:cNvSpPr txBox="1"/>
          <p:nvPr/>
        </p:nvSpPr>
        <p:spPr>
          <a:xfrm>
            <a:off x="1332000" y="15840000"/>
            <a:ext cx="5623200" cy="561600"/>
          </a:xfrm>
          <a:prstGeom prst="rect">
            <a:avLst/>
          </a:prstGeom>
          <a:noFill/>
        </p:spPr>
        <p:txBody>
          <a:bodyPr wrap="square" tIns="0" bIns="0" lIns="0" rIns="0">
            <a:spAutoFit/>
          </a:bodyPr>
          <a:lstStyle/>
          <a:p>
            <a:pPr>
              <a:lnSpc>
                <a:spcPct val="100000"/>
              </a:lnSpc>
              <a:spcBef>
                <a:spcPts val="0"/>
              </a:spcBef>
              <a:spcAft>
                <a:spcPts val="0"/>
              </a:spcAft>
            </a:pPr>
            <a:r>
              <a:rPr sz="2700" b="0">
                <a:latin typeface="Century Gothic"/>
              </a:rPr>
              <a:t>RECOMENDACIONES</a:t>
            </a:r>
          </a:p>
        </p:txBody>
      </p:sp>
      <p:sp>
        <p:nvSpPr>
          <p:cNvPr id="14" name="TextBox 13"/>
          <p:cNvSpPr txBox="1"/>
          <p:nvPr/>
        </p:nvSpPr>
        <p:spPr>
          <a:xfrm>
            <a:off x="720000" y="16380000"/>
            <a:ext cx="12441600" cy="54000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✅Ante los bloqueos reportados en diferentes puntos de la ciudad, como la Carrera 7 con Calle 45 y la Av. Guayacanes con Calle 38 Sur, las autoridades emiten las siguientes recomendaciones:
✅Evite transitar por zonas de manifestación: si puede, reprograme sus desplazamientos o utilice rutas alternas como la Avenida Caracas, Carrera 30 (NQS) o Avenida Circunvalar.
✅Proteja a menores y adultos mayores: si se moviliza con personas vulnerables, evite transitar cerca de aglomeraciones por seguridad.
✅Use transporte alternativo: de ser posible, opte por el uso de bicicleta, caminar si la distancia lo permite, o planifique rutas con aplicaciones de movilidad en tiempo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